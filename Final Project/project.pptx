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9" r:id="rId1"/>
  </p:sldMasterIdLst>
  <p:notesMasterIdLst>
    <p:notesMasterId r:id="rId40"/>
  </p:notesMasterIdLst>
  <p:handoutMasterIdLst>
    <p:handoutMasterId r:id="rId41"/>
  </p:handoutMasterIdLst>
  <p:sldIdLst>
    <p:sldId id="256" r:id="rId2"/>
    <p:sldId id="257" r:id="rId3"/>
    <p:sldId id="258" r:id="rId4"/>
    <p:sldId id="269" r:id="rId5"/>
    <p:sldId id="268" r:id="rId6"/>
    <p:sldId id="270" r:id="rId7"/>
    <p:sldId id="271" r:id="rId8"/>
    <p:sldId id="272" r:id="rId9"/>
    <p:sldId id="273" r:id="rId10"/>
    <p:sldId id="260" r:id="rId11"/>
    <p:sldId id="259" r:id="rId12"/>
    <p:sldId id="274" r:id="rId13"/>
    <p:sldId id="275" r:id="rId14"/>
    <p:sldId id="261" r:id="rId15"/>
    <p:sldId id="262" r:id="rId16"/>
    <p:sldId id="276" r:id="rId17"/>
    <p:sldId id="280" r:id="rId18"/>
    <p:sldId id="281" r:id="rId19"/>
    <p:sldId id="282" r:id="rId20"/>
    <p:sldId id="283" r:id="rId21"/>
    <p:sldId id="277" r:id="rId22"/>
    <p:sldId id="284" r:id="rId23"/>
    <p:sldId id="285" r:id="rId24"/>
    <p:sldId id="286" r:id="rId25"/>
    <p:sldId id="287" r:id="rId26"/>
    <p:sldId id="278" r:id="rId27"/>
    <p:sldId id="288" r:id="rId28"/>
    <p:sldId id="289" r:id="rId29"/>
    <p:sldId id="290" r:id="rId30"/>
    <p:sldId id="291" r:id="rId31"/>
    <p:sldId id="279" r:id="rId32"/>
    <p:sldId id="292" r:id="rId33"/>
    <p:sldId id="293" r:id="rId34"/>
    <p:sldId id="294" r:id="rId35"/>
    <p:sldId id="263" r:id="rId36"/>
    <p:sldId id="264" r:id="rId37"/>
    <p:sldId id="267" r:id="rId38"/>
    <p:sldId id="265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8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11FDB7-78DE-AFC2-5993-E2C78B300E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92BA2E-DE23-E05E-A548-0AEBAD4277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29673C-6FEF-4DA6-8787-B71017B2AC8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B2FA72-80C0-AB8A-56B1-5F1C740895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0A069C-AA51-2FB0-01A8-76538C6EFF5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359AE9-95A5-42BC-8710-3A35A7192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754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67568C-6DBD-47F8-83AF-8B6CEB3EA8EA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564CCA-2E52-4868-9699-4A6DB35F8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856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4822-214E-4738-A6AB-0797D1B18B70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996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60F-10B6-4C99-9DC5-D7D229523E33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489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E7E8-106E-4378-A989-A49A6359C7BC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30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B5D35-1325-4D8F-ACB3-CDDBDD9A9D1E}" type="datetime1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399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126E8-6AD2-4F5D-84B5-8493E6ECEEFA}" type="datetime1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84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E48F-BB0B-4CFB-81CF-1E41C3228E37}" type="datetime1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9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7F3EC-B364-45C3-8CE2-10EF6B6B973A}" type="datetime1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84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F0221-D3F0-4896-92B8-7A52B82288CD}" type="datetime1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17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15C9-D3CB-465D-ADEC-00EF4212544C}" type="datetime1">
              <a:rPr lang="en-US" smtClean="0"/>
              <a:t>9/14/2025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A097-6B93-4203-B5DC-02D8D66988A2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12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F9D00-95F4-413D-A93D-423A2EAA860F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3141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C29DE-D24B-4914-8746-571BC44E80BE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5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031DA-7971-40A8-8E3B-CF69E31E4F62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08031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C272D-6AD9-4EE3-9514-5934E60D6637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3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F18E-3BEE-4232-82AF-BB0BE7D353E7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92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24EEF-2CF3-4AB8-94E2-7D9FB0545AB0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2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B5D67-06B0-440A-8464-0CF78B578800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4215DE9-0D90-4B05-9877-6F0168111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087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2F05F-426E-F692-6225-DC4DC4D924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032" y="1122489"/>
            <a:ext cx="7766936" cy="1646302"/>
          </a:xfrm>
        </p:spPr>
        <p:txBody>
          <a:bodyPr/>
          <a:lstStyle/>
          <a:p>
            <a:pPr rtl="1"/>
            <a:r>
              <a:rPr lang="fa-IR" dirty="0" err="1">
                <a:cs typeface="B Titr" panose="00000700000000000000" pitchFamily="2" charset="-78"/>
              </a:rPr>
              <a:t>شبیه‌سازی</a:t>
            </a:r>
            <a:r>
              <a:rPr lang="fa-IR" dirty="0">
                <a:cs typeface="B Titr" panose="00000700000000000000" pitchFamily="2" charset="-78"/>
              </a:rPr>
              <a:t> بازی </a:t>
            </a:r>
            <a:r>
              <a:rPr lang="fa-IR" dirty="0" err="1">
                <a:cs typeface="B Titr" panose="00000700000000000000" pitchFamily="2" charset="-78"/>
              </a:rPr>
              <a:t>ترسوها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7DF45-977A-76D4-1073-679BD766583E}"/>
              </a:ext>
            </a:extLst>
          </p:cNvPr>
          <p:cNvSpPr txBox="1"/>
          <p:nvPr/>
        </p:nvSpPr>
        <p:spPr>
          <a:xfrm>
            <a:off x="3763652" y="3846136"/>
            <a:ext cx="4220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800" dirty="0">
                <a:cs typeface="B Nazanin" panose="00000400000000000000" pitchFamily="2" charset="-78"/>
              </a:rPr>
              <a:t>استاد راهنما: دکتر سیگاری</a:t>
            </a:r>
            <a:endParaRPr lang="en-US" sz="2800" dirty="0">
              <a:cs typeface="B Nazanin" panose="000004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C42B55-DB04-9A7F-2953-7498B99969C4}"/>
              </a:ext>
            </a:extLst>
          </p:cNvPr>
          <p:cNvSpPr txBox="1"/>
          <p:nvPr/>
        </p:nvSpPr>
        <p:spPr>
          <a:xfrm>
            <a:off x="3763651" y="4366380"/>
            <a:ext cx="4220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800" dirty="0" err="1">
                <a:cs typeface="B Nazanin" panose="00000400000000000000" pitchFamily="2" charset="-78"/>
              </a:rPr>
              <a:t>تهیه‌کننده</a:t>
            </a:r>
            <a:r>
              <a:rPr lang="fa-IR" sz="2800" dirty="0">
                <a:cs typeface="B Nazanin" panose="00000400000000000000" pitchFamily="2" charset="-78"/>
              </a:rPr>
              <a:t>: امیررضا حاجی زاده</a:t>
            </a:r>
            <a:endParaRPr lang="en-US" sz="2800" dirty="0">
              <a:cs typeface="B Nazanin" panose="000004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D94FF-1A83-8EA0-9234-69026B30AAFD}"/>
              </a:ext>
            </a:extLst>
          </p:cNvPr>
          <p:cNvSpPr txBox="1"/>
          <p:nvPr/>
        </p:nvSpPr>
        <p:spPr>
          <a:xfrm>
            <a:off x="3763652" y="5966945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تابستان 1404</a:t>
            </a:r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70613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165396" y="451512"/>
            <a:ext cx="7766936" cy="1412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5400" dirty="0">
                <a:cs typeface="B Titr" panose="00000700000000000000" pitchFamily="2" charset="-78"/>
              </a:rPr>
              <a:t>فهرست مطالب</a:t>
            </a:r>
            <a:endParaRPr lang="en-US" sz="5400" dirty="0"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CD712-E143-BAFC-5016-24A5A0DE4A36}"/>
              </a:ext>
            </a:extLst>
          </p:cNvPr>
          <p:cNvSpPr txBox="1"/>
          <p:nvPr/>
        </p:nvSpPr>
        <p:spPr>
          <a:xfrm>
            <a:off x="2064470" y="1968899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b="1" i="1" dirty="0">
                <a:cs typeface="B Nazanin" panose="00000400000000000000" pitchFamily="2" charset="-78"/>
              </a:rPr>
              <a:t>فصل اول: مقدمه</a:t>
            </a:r>
            <a:endParaRPr lang="en-US" sz="3600" b="1" i="1" dirty="0">
              <a:cs typeface="B Nazanin" panose="000004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B640F7-99F2-B066-FA21-23EAE6A199CA}"/>
              </a:ext>
            </a:extLst>
          </p:cNvPr>
          <p:cNvSpPr txBox="1"/>
          <p:nvPr/>
        </p:nvSpPr>
        <p:spPr>
          <a:xfrm>
            <a:off x="2064470" y="2806606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فصل دوم: </a:t>
            </a:r>
            <a:r>
              <a:rPr lang="fa-IR" sz="3600" dirty="0" err="1">
                <a:cs typeface="B Nazanin" panose="00000400000000000000" pitchFamily="2" charset="-78"/>
              </a:rPr>
              <a:t>پیاده‌سازی</a:t>
            </a:r>
            <a:r>
              <a:rPr lang="fa-IR" sz="3600" dirty="0">
                <a:cs typeface="B Nazanin" panose="00000400000000000000" pitchFamily="2" charset="-78"/>
              </a:rPr>
              <a:t> بازی و شخصیت ها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01DB4A-55BD-3006-CB36-3D46325CF65C}"/>
              </a:ext>
            </a:extLst>
          </p:cNvPr>
          <p:cNvSpPr txBox="1"/>
          <p:nvPr/>
        </p:nvSpPr>
        <p:spPr>
          <a:xfrm>
            <a:off x="2064470" y="3644313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فصل سوم: نتایج و آزمایش ها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AE5849-DE5F-1278-EF4A-9028B8105E7C}"/>
              </a:ext>
            </a:extLst>
          </p:cNvPr>
          <p:cNvSpPr txBox="1"/>
          <p:nvPr/>
        </p:nvSpPr>
        <p:spPr>
          <a:xfrm>
            <a:off x="2064470" y="4482020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فصل چهارم: </a:t>
            </a:r>
            <a:r>
              <a:rPr lang="fa-IR" sz="3600" dirty="0" err="1">
                <a:cs typeface="B Nazanin" panose="00000400000000000000" pitchFamily="2" charset="-78"/>
              </a:rPr>
              <a:t>نتیجه‌گیری</a:t>
            </a:r>
            <a:r>
              <a:rPr lang="fa-IR" sz="3600" dirty="0">
                <a:cs typeface="B Nazanin" panose="00000400000000000000" pitchFamily="2" charset="-78"/>
              </a:rPr>
              <a:t> و پیشنهادات</a:t>
            </a:r>
            <a:endParaRPr lang="en-US" sz="36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4038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165396" y="451512"/>
            <a:ext cx="7766936" cy="1412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5400" dirty="0">
                <a:cs typeface="B Nazanin" panose="00000400000000000000" pitchFamily="2" charset="-78"/>
              </a:rPr>
              <a:t>فصل اول: مقدمه</a:t>
            </a:r>
            <a:endParaRPr lang="en-US" sz="5400" dirty="0">
              <a:cs typeface="B Nazanin" panose="000004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CD712-E143-BAFC-5016-24A5A0DE4A36}"/>
              </a:ext>
            </a:extLst>
          </p:cNvPr>
          <p:cNvSpPr txBox="1"/>
          <p:nvPr/>
        </p:nvSpPr>
        <p:spPr>
          <a:xfrm>
            <a:off x="2064470" y="1954206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روانشناسی بازی ها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B640F7-99F2-B066-FA21-23EAE6A199CA}"/>
              </a:ext>
            </a:extLst>
          </p:cNvPr>
          <p:cNvSpPr txBox="1"/>
          <p:nvPr/>
        </p:nvSpPr>
        <p:spPr>
          <a:xfrm>
            <a:off x="2064470" y="2791913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نظریه بازی ها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01DB4A-55BD-3006-CB36-3D46325CF65C}"/>
              </a:ext>
            </a:extLst>
          </p:cNvPr>
          <p:cNvSpPr txBox="1"/>
          <p:nvPr/>
        </p:nvSpPr>
        <p:spPr>
          <a:xfrm>
            <a:off x="2064470" y="3629620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فلسفه بازی </a:t>
            </a:r>
            <a:r>
              <a:rPr lang="fa-IR" sz="3600" dirty="0" err="1">
                <a:cs typeface="B Nazanin" panose="00000400000000000000" pitchFamily="2" charset="-78"/>
              </a:rPr>
              <a:t>ترسوها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AE5849-DE5F-1278-EF4A-9028B8105E7C}"/>
              </a:ext>
            </a:extLst>
          </p:cNvPr>
          <p:cNvSpPr txBox="1"/>
          <p:nvPr/>
        </p:nvSpPr>
        <p:spPr>
          <a:xfrm>
            <a:off x="2064470" y="4467327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معرفی بازی های مشابه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69A653-57D7-D35E-EC78-80A9D4291623}"/>
              </a:ext>
            </a:extLst>
          </p:cNvPr>
          <p:cNvSpPr txBox="1"/>
          <p:nvPr/>
        </p:nvSpPr>
        <p:spPr>
          <a:xfrm>
            <a:off x="2064470" y="5305034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مقایسه بازی ها</a:t>
            </a:r>
            <a:endParaRPr lang="en-US" sz="36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56396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165396" y="451512"/>
            <a:ext cx="7766936" cy="1412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5400" dirty="0">
                <a:cs typeface="B Nazanin" panose="00000400000000000000" pitchFamily="2" charset="-78"/>
              </a:rPr>
              <a:t>فلسفه بازی </a:t>
            </a:r>
            <a:r>
              <a:rPr lang="fa-IR" sz="5400" dirty="0" err="1">
                <a:cs typeface="B Nazanin" panose="00000400000000000000" pitchFamily="2" charset="-78"/>
              </a:rPr>
              <a:t>ترسوها</a:t>
            </a:r>
            <a:endParaRPr lang="en-US" sz="5400" dirty="0">
              <a:cs typeface="B Nazanin" panose="00000400000000000000" pitchFamily="2" charset="-78"/>
            </a:endParaRPr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1B502B55-2E06-4A93-F9AA-DE9DD2E9E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142256"/>
              </p:ext>
            </p:extLst>
          </p:nvPr>
        </p:nvGraphicFramePr>
        <p:xfrm>
          <a:off x="1165396" y="2176343"/>
          <a:ext cx="8127999" cy="302242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0852545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92186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05336666"/>
                    </a:ext>
                  </a:extLst>
                </a:gridCol>
              </a:tblGrid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نتیجه</a:t>
                      </a:r>
                      <a:endParaRPr lang="en-US" sz="180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راننده دوم</a:t>
                      </a:r>
                      <a:endParaRPr lang="en-US" sz="1800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راننده </a:t>
                      </a:r>
                      <a:r>
                        <a:rPr lang="fa-IR" sz="1800" b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اول</a:t>
                      </a:r>
                      <a:endParaRPr lang="en-US" sz="1800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2756369"/>
                  </a:ext>
                </a:extLst>
              </a:tr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هر دو بازنده (خطر مرگ)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ادامه دادن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ادامه دادن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6444816"/>
                  </a:ext>
                </a:extLst>
              </a:tr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راننده اول برنده 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ادامه ندادن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ادامه دادن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8718747"/>
                  </a:ext>
                </a:extLst>
              </a:tr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راننده دوم برنده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ادامه دادن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ادامه ندادن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1698577"/>
                  </a:ext>
                </a:extLst>
              </a:tr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مساوی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ادامه ندادن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ادامه ندادن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0119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383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165396" y="451512"/>
            <a:ext cx="7766936" cy="1412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5400" dirty="0">
                <a:cs typeface="B Nazanin" panose="00000400000000000000" pitchFamily="2" charset="-78"/>
              </a:rPr>
              <a:t>معرفی بازی های مشابه</a:t>
            </a:r>
            <a:endParaRPr lang="en-US" sz="5400" dirty="0">
              <a:cs typeface="B Nazanin" panose="000004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CD712-E143-BAFC-5016-24A5A0DE4A36}"/>
              </a:ext>
            </a:extLst>
          </p:cNvPr>
          <p:cNvSpPr txBox="1"/>
          <p:nvPr/>
        </p:nvSpPr>
        <p:spPr>
          <a:xfrm>
            <a:off x="801278" y="2237010"/>
            <a:ext cx="8131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بازی معضل زندانی (</a:t>
            </a:r>
            <a:r>
              <a:rPr lang="en-US" sz="2400" dirty="0">
                <a:cs typeface="B Nazanin" panose="00000400000000000000" pitchFamily="2" charset="-78"/>
              </a:rPr>
              <a:t>Prisoner’s Dilemma</a:t>
            </a:r>
            <a:r>
              <a:rPr lang="fa-IR" sz="3600" dirty="0">
                <a:cs typeface="B Nazanin" panose="00000400000000000000" pitchFamily="2" charset="-78"/>
              </a:rPr>
              <a:t>)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8DA372-04BB-5386-7A9C-7A1BC2B410E8}"/>
              </a:ext>
            </a:extLst>
          </p:cNvPr>
          <p:cNvSpPr txBox="1"/>
          <p:nvPr/>
        </p:nvSpPr>
        <p:spPr>
          <a:xfrm>
            <a:off x="801278" y="3074717"/>
            <a:ext cx="8131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بازی شکار گوزن (</a:t>
            </a:r>
            <a:r>
              <a:rPr lang="en-US" sz="2400" dirty="0">
                <a:cs typeface="B Nazanin" panose="00000400000000000000" pitchFamily="2" charset="-78"/>
              </a:rPr>
              <a:t>Stag Hunt</a:t>
            </a:r>
            <a:r>
              <a:rPr lang="fa-IR" sz="3600" dirty="0">
                <a:cs typeface="B Nazanin" panose="00000400000000000000" pitchFamily="2" charset="-78"/>
              </a:rPr>
              <a:t>)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99B495-5CC8-8296-1D29-CD1D669EEE3C}"/>
              </a:ext>
            </a:extLst>
          </p:cNvPr>
          <p:cNvSpPr txBox="1"/>
          <p:nvPr/>
        </p:nvSpPr>
        <p:spPr>
          <a:xfrm>
            <a:off x="801278" y="3912424"/>
            <a:ext cx="8131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بازی شاه و رعیت (</a:t>
            </a:r>
            <a:r>
              <a:rPr lang="en-US" sz="2400" dirty="0">
                <a:cs typeface="B Nazanin" panose="00000400000000000000" pitchFamily="2" charset="-78"/>
              </a:rPr>
              <a:t>Battle of the Sexes</a:t>
            </a:r>
            <a:r>
              <a:rPr lang="fa-IR" sz="3600" dirty="0">
                <a:cs typeface="B Nazanin" panose="00000400000000000000" pitchFamily="2" charset="-78"/>
              </a:rPr>
              <a:t>)</a:t>
            </a:r>
            <a:endParaRPr lang="en-US" sz="36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41225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5400" dirty="0">
                <a:cs typeface="B Nazanin" panose="00000400000000000000" pitchFamily="2" charset="-78"/>
              </a:rPr>
              <a:t>بازی معضل زندانی (</a:t>
            </a:r>
            <a:r>
              <a:rPr lang="en-US" sz="4000" dirty="0">
                <a:cs typeface="B Nazanin" panose="00000400000000000000" pitchFamily="2" charset="-78"/>
              </a:rPr>
              <a:t>Prisoner’s Dilemma</a:t>
            </a:r>
            <a:r>
              <a:rPr lang="fa-IR" sz="5400" dirty="0">
                <a:cs typeface="B Nazanin" panose="00000400000000000000" pitchFamily="2" charset="-78"/>
              </a:rPr>
              <a:t>)</a:t>
            </a:r>
            <a:endParaRPr lang="en-US" sz="5400" dirty="0">
              <a:cs typeface="B Nazanin" panose="00000400000000000000" pitchFamily="2" charset="-78"/>
            </a:endParaRPr>
          </a:p>
        </p:txBody>
      </p:sp>
      <p:graphicFrame>
        <p:nvGraphicFramePr>
          <p:cNvPr id="4" name="Table 12">
            <a:extLst>
              <a:ext uri="{FF2B5EF4-FFF2-40B4-BE49-F238E27FC236}">
                <a16:creationId xmlns:a16="http://schemas.microsoft.com/office/drawing/2014/main" id="{D72C4C3D-FC9D-8881-BF5D-95B997DF9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844811"/>
              </p:ext>
            </p:extLst>
          </p:nvPr>
        </p:nvGraphicFramePr>
        <p:xfrm>
          <a:off x="1165396" y="2176343"/>
          <a:ext cx="8127999" cy="302242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0852545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92186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05336666"/>
                    </a:ext>
                  </a:extLst>
                </a:gridCol>
              </a:tblGrid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نتیجه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زندانی دوم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زندانی </a:t>
                      </a:r>
                      <a:r>
                        <a:rPr lang="fa-IR" sz="18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اول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2756369"/>
                  </a:ext>
                </a:extLst>
              </a:tr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هر دو حبس سبک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سکوت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سکوت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6444816"/>
                  </a:ext>
                </a:extLst>
              </a:tr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زندانی دوم آزاد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خیانت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سکوت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8718747"/>
                  </a:ext>
                </a:extLst>
              </a:tr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زندانی اول آزاد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سکوت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خیانت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1698577"/>
                  </a:ext>
                </a:extLst>
              </a:tr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هر دو حبس متوسط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خیانت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خیانت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0119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4886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5400" dirty="0">
                <a:cs typeface="B Nazanin" panose="00000400000000000000" pitchFamily="2" charset="-78"/>
              </a:rPr>
              <a:t>بازی شکار گوزن (</a:t>
            </a:r>
            <a:r>
              <a:rPr lang="en-US" sz="4000" dirty="0">
                <a:cs typeface="B Nazanin" panose="00000400000000000000" pitchFamily="2" charset="-78"/>
              </a:rPr>
              <a:t>Stag Hunt</a:t>
            </a:r>
            <a:r>
              <a:rPr lang="fa-IR" sz="5400" dirty="0">
                <a:cs typeface="B Nazanin" panose="00000400000000000000" pitchFamily="2" charset="-78"/>
              </a:rPr>
              <a:t>)</a:t>
            </a:r>
            <a:endParaRPr lang="en-US" sz="5400" dirty="0">
              <a:cs typeface="B Nazanin" panose="00000400000000000000" pitchFamily="2" charset="-78"/>
            </a:endParaRPr>
          </a:p>
        </p:txBody>
      </p:sp>
      <p:graphicFrame>
        <p:nvGraphicFramePr>
          <p:cNvPr id="4" name="Table 12">
            <a:extLst>
              <a:ext uri="{FF2B5EF4-FFF2-40B4-BE49-F238E27FC236}">
                <a16:creationId xmlns:a16="http://schemas.microsoft.com/office/drawing/2014/main" id="{D72C4C3D-FC9D-8881-BF5D-95B997DF9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639750"/>
              </p:ext>
            </p:extLst>
          </p:nvPr>
        </p:nvGraphicFramePr>
        <p:xfrm>
          <a:off x="1165396" y="2176343"/>
          <a:ext cx="8127999" cy="302242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0852545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92186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05336666"/>
                    </a:ext>
                  </a:extLst>
                </a:gridCol>
              </a:tblGrid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نتیجه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شکارچی دوم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شکارچی </a:t>
                      </a:r>
                      <a:r>
                        <a:rPr lang="fa-IR" sz="18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اول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2756369"/>
                  </a:ext>
                </a:extLst>
              </a:tr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هر دو سود بالا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همکاری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همکاری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6444816"/>
                  </a:ext>
                </a:extLst>
              </a:tr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شکارچی دوم سود کم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تنهایی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همکاری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8718747"/>
                  </a:ext>
                </a:extLst>
              </a:tr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شکارچی اول سود کم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همکاری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تنهایی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1698577"/>
                  </a:ext>
                </a:extLst>
              </a:tr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هر دو سود کم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تنهایی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تنهایی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0119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563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7200" dirty="0">
                <a:cs typeface="B Nazanin" panose="00000400000000000000" pitchFamily="2" charset="-78"/>
              </a:rPr>
              <a:t>بازی شاه و رعیت (</a:t>
            </a:r>
            <a:r>
              <a:rPr lang="en-US" sz="5400" dirty="0">
                <a:cs typeface="B Nazanin" panose="00000400000000000000" pitchFamily="2" charset="-78"/>
              </a:rPr>
              <a:t>Battle of the Sexes</a:t>
            </a:r>
            <a:r>
              <a:rPr lang="fa-IR" sz="7200" dirty="0">
                <a:cs typeface="B Nazanin" panose="00000400000000000000" pitchFamily="2" charset="-78"/>
              </a:rPr>
              <a:t>)</a:t>
            </a:r>
            <a:endParaRPr lang="en-US" sz="7200" dirty="0">
              <a:cs typeface="B Nazanin" panose="00000400000000000000" pitchFamily="2" charset="-78"/>
            </a:endParaRPr>
          </a:p>
        </p:txBody>
      </p:sp>
      <p:graphicFrame>
        <p:nvGraphicFramePr>
          <p:cNvPr id="4" name="Table 12">
            <a:extLst>
              <a:ext uri="{FF2B5EF4-FFF2-40B4-BE49-F238E27FC236}">
                <a16:creationId xmlns:a16="http://schemas.microsoft.com/office/drawing/2014/main" id="{D72C4C3D-FC9D-8881-BF5D-95B997DF9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325179"/>
              </p:ext>
            </p:extLst>
          </p:nvPr>
        </p:nvGraphicFramePr>
        <p:xfrm>
          <a:off x="1165396" y="2176343"/>
          <a:ext cx="8127999" cy="302242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0852545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92186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05336666"/>
                    </a:ext>
                  </a:extLst>
                </a:gridCol>
              </a:tblGrid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نتیجه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نفر دوم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نفر </a:t>
                      </a:r>
                      <a:r>
                        <a:rPr lang="fa-IR" sz="18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اول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2756369"/>
                  </a:ext>
                </a:extLst>
              </a:tr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هر دو راضی شخص دوم بیشتر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فوتبال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فوتبال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6444816"/>
                  </a:ext>
                </a:extLst>
              </a:tr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نارضایتی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تئاتر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فوتبال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8718747"/>
                  </a:ext>
                </a:extLst>
              </a:tr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نارضایتی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فوتبال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تئاتر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1698577"/>
                  </a:ext>
                </a:extLst>
              </a:tr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هر دو راضی شخص اول بیشتر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تئاتر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تئاتر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0119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6088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165396" y="451512"/>
            <a:ext cx="7766936" cy="1412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5400" dirty="0">
                <a:cs typeface="B Nazanin" panose="00000400000000000000" pitchFamily="2" charset="-78"/>
              </a:rPr>
              <a:t>مقایسه بازی ها</a:t>
            </a:r>
            <a:endParaRPr lang="en-US" sz="5400" dirty="0">
              <a:cs typeface="B Nazanin" panose="000004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CD712-E143-BAFC-5016-24A5A0DE4A36}"/>
              </a:ext>
            </a:extLst>
          </p:cNvPr>
          <p:cNvSpPr txBox="1"/>
          <p:nvPr/>
        </p:nvSpPr>
        <p:spPr>
          <a:xfrm>
            <a:off x="2064470" y="1607758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ابعاد فلسفی و اخلاقی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B640F7-99F2-B066-FA21-23EAE6A199CA}"/>
              </a:ext>
            </a:extLst>
          </p:cNvPr>
          <p:cNvSpPr txBox="1"/>
          <p:nvPr/>
        </p:nvSpPr>
        <p:spPr>
          <a:xfrm>
            <a:off x="2064470" y="2344086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کاربرد های سیاسی و بین </a:t>
            </a:r>
            <a:r>
              <a:rPr lang="fa-IR" sz="3600" dirty="0" err="1">
                <a:cs typeface="B Nazanin" panose="00000400000000000000" pitchFamily="2" charset="-78"/>
              </a:rPr>
              <a:t>المللی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01DB4A-55BD-3006-CB36-3D46325CF65C}"/>
              </a:ext>
            </a:extLst>
          </p:cNvPr>
          <p:cNvSpPr txBox="1"/>
          <p:nvPr/>
        </p:nvSpPr>
        <p:spPr>
          <a:xfrm>
            <a:off x="2064470" y="3080414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بستر تحلیل روان شناختی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AE5849-DE5F-1278-EF4A-9028B8105E7C}"/>
              </a:ext>
            </a:extLst>
          </p:cNvPr>
          <p:cNvSpPr txBox="1"/>
          <p:nvPr/>
        </p:nvSpPr>
        <p:spPr>
          <a:xfrm>
            <a:off x="2064470" y="3816742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قابلیت مدل سازی ریاضی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69A653-57D7-D35E-EC78-80A9D4291623}"/>
              </a:ext>
            </a:extLst>
          </p:cNvPr>
          <p:cNvSpPr txBox="1"/>
          <p:nvPr/>
        </p:nvSpPr>
        <p:spPr>
          <a:xfrm>
            <a:off x="2064470" y="4553070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شباهت به روابط انسانی روزانه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B5CEE1-E0C9-306E-54EE-CE420ED164D0}"/>
              </a:ext>
            </a:extLst>
          </p:cNvPr>
          <p:cNvSpPr txBox="1"/>
          <p:nvPr/>
        </p:nvSpPr>
        <p:spPr>
          <a:xfrm>
            <a:off x="2064470" y="5289398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امکان تلفیق با سایر حوزه ها</a:t>
            </a:r>
            <a:endParaRPr lang="en-US" sz="36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3441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165396" y="451512"/>
            <a:ext cx="7766936" cy="1412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5400" dirty="0">
                <a:cs typeface="B Titr" panose="00000700000000000000" pitchFamily="2" charset="-78"/>
              </a:rPr>
              <a:t>فهرست مطالب</a:t>
            </a:r>
            <a:endParaRPr lang="en-US" sz="5400" dirty="0"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CD712-E143-BAFC-5016-24A5A0DE4A36}"/>
              </a:ext>
            </a:extLst>
          </p:cNvPr>
          <p:cNvSpPr txBox="1"/>
          <p:nvPr/>
        </p:nvSpPr>
        <p:spPr>
          <a:xfrm>
            <a:off x="2064470" y="1968899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فصل اول: مقدمه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B640F7-99F2-B066-FA21-23EAE6A199CA}"/>
              </a:ext>
            </a:extLst>
          </p:cNvPr>
          <p:cNvSpPr txBox="1"/>
          <p:nvPr/>
        </p:nvSpPr>
        <p:spPr>
          <a:xfrm>
            <a:off x="2064470" y="2806606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b="1" i="1" dirty="0">
                <a:cs typeface="B Nazanin" panose="00000400000000000000" pitchFamily="2" charset="-78"/>
              </a:rPr>
              <a:t>فصل دوم: </a:t>
            </a:r>
            <a:r>
              <a:rPr lang="fa-IR" sz="3600" b="1" i="1" dirty="0" err="1">
                <a:cs typeface="B Nazanin" panose="00000400000000000000" pitchFamily="2" charset="-78"/>
              </a:rPr>
              <a:t>پیاده‌سازی</a:t>
            </a:r>
            <a:r>
              <a:rPr lang="fa-IR" sz="3600" b="1" i="1" dirty="0">
                <a:cs typeface="B Nazanin" panose="00000400000000000000" pitchFamily="2" charset="-78"/>
              </a:rPr>
              <a:t> بازی و شخصیت ها</a:t>
            </a:r>
            <a:endParaRPr lang="en-US" sz="3600" b="1" i="1" dirty="0">
              <a:cs typeface="B Nazanin" panose="000004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01DB4A-55BD-3006-CB36-3D46325CF65C}"/>
              </a:ext>
            </a:extLst>
          </p:cNvPr>
          <p:cNvSpPr txBox="1"/>
          <p:nvPr/>
        </p:nvSpPr>
        <p:spPr>
          <a:xfrm>
            <a:off x="2064470" y="3644313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فصل سوم: نتایج و آزمایش ها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AE5849-DE5F-1278-EF4A-9028B8105E7C}"/>
              </a:ext>
            </a:extLst>
          </p:cNvPr>
          <p:cNvSpPr txBox="1"/>
          <p:nvPr/>
        </p:nvSpPr>
        <p:spPr>
          <a:xfrm>
            <a:off x="2064470" y="4482020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فصل چهارم: </a:t>
            </a:r>
            <a:r>
              <a:rPr lang="fa-IR" sz="3600" dirty="0" err="1">
                <a:cs typeface="B Nazanin" panose="00000400000000000000" pitchFamily="2" charset="-78"/>
              </a:rPr>
              <a:t>نتیجه‌گیری</a:t>
            </a:r>
            <a:r>
              <a:rPr lang="fa-IR" sz="3600" dirty="0">
                <a:cs typeface="B Nazanin" panose="00000400000000000000" pitchFamily="2" charset="-78"/>
              </a:rPr>
              <a:t> و پیشنهادات</a:t>
            </a:r>
            <a:endParaRPr lang="en-US" sz="36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37036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341670" y="451513"/>
            <a:ext cx="8932332" cy="1412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5400" dirty="0">
                <a:cs typeface="B Nazanin" panose="00000400000000000000" pitchFamily="2" charset="-78"/>
              </a:rPr>
              <a:t>فصل دوم: </a:t>
            </a:r>
            <a:r>
              <a:rPr lang="fa-IR" sz="5400" dirty="0" err="1">
                <a:cs typeface="B Nazanin" panose="00000400000000000000" pitchFamily="2" charset="-78"/>
              </a:rPr>
              <a:t>پیاده‌سازی</a:t>
            </a:r>
            <a:r>
              <a:rPr lang="fa-IR" sz="5400" dirty="0">
                <a:cs typeface="B Nazanin" panose="00000400000000000000" pitchFamily="2" charset="-78"/>
              </a:rPr>
              <a:t> بازی و شخصیت ها</a:t>
            </a:r>
            <a:endParaRPr lang="en-US" sz="5400" dirty="0">
              <a:cs typeface="B Nazanin" panose="000004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CD712-E143-BAFC-5016-24A5A0DE4A36}"/>
              </a:ext>
            </a:extLst>
          </p:cNvPr>
          <p:cNvSpPr txBox="1"/>
          <p:nvPr/>
        </p:nvSpPr>
        <p:spPr>
          <a:xfrm>
            <a:off x="2064470" y="2223423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انواع شخصیت ها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DE7D46-2B7E-C108-15E7-BC8580255543}"/>
              </a:ext>
            </a:extLst>
          </p:cNvPr>
          <p:cNvSpPr txBox="1"/>
          <p:nvPr/>
        </p:nvSpPr>
        <p:spPr>
          <a:xfrm>
            <a:off x="2064470" y="3228967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 err="1">
                <a:cs typeface="B Nazanin" panose="00000400000000000000" pitchFamily="2" charset="-78"/>
              </a:rPr>
              <a:t>نحوه‌ی</a:t>
            </a:r>
            <a:r>
              <a:rPr lang="fa-IR" sz="3600" dirty="0">
                <a:cs typeface="B Nazanin" panose="00000400000000000000" pitchFamily="2" charset="-78"/>
              </a:rPr>
              <a:t> اجرا بازی</a:t>
            </a:r>
            <a:endParaRPr lang="en-US" sz="36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00779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165396" y="451512"/>
            <a:ext cx="7766936" cy="10662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5400" dirty="0">
                <a:cs typeface="B Nazanin" panose="00000400000000000000" pitchFamily="2" charset="-78"/>
              </a:rPr>
              <a:t>انواع شخصیت ها</a:t>
            </a:r>
            <a:endParaRPr lang="en-US" sz="5400" dirty="0">
              <a:cs typeface="B Nazanin" panose="000004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CD712-E143-BAFC-5016-24A5A0DE4A36}"/>
              </a:ext>
            </a:extLst>
          </p:cNvPr>
          <p:cNvSpPr txBox="1"/>
          <p:nvPr/>
        </p:nvSpPr>
        <p:spPr>
          <a:xfrm>
            <a:off x="2064470" y="1607758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شخصیت اول - حریص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B640F7-99F2-B066-FA21-23EAE6A199CA}"/>
              </a:ext>
            </a:extLst>
          </p:cNvPr>
          <p:cNvSpPr txBox="1"/>
          <p:nvPr/>
        </p:nvSpPr>
        <p:spPr>
          <a:xfrm>
            <a:off x="2064470" y="2344086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شخصیت دوم - مهربان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01DB4A-55BD-3006-CB36-3D46325CF65C}"/>
              </a:ext>
            </a:extLst>
          </p:cNvPr>
          <p:cNvSpPr txBox="1"/>
          <p:nvPr/>
        </p:nvSpPr>
        <p:spPr>
          <a:xfrm>
            <a:off x="2064470" y="3080414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شخصیت سوم – تصادفی 80%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AE5849-DE5F-1278-EF4A-9028B8105E7C}"/>
              </a:ext>
            </a:extLst>
          </p:cNvPr>
          <p:cNvSpPr txBox="1"/>
          <p:nvPr/>
        </p:nvSpPr>
        <p:spPr>
          <a:xfrm>
            <a:off x="2064470" y="3816742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شخصیت چهارم – تصادفی 50%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69A653-57D7-D35E-EC78-80A9D4291623}"/>
              </a:ext>
            </a:extLst>
          </p:cNvPr>
          <p:cNvSpPr txBox="1"/>
          <p:nvPr/>
        </p:nvSpPr>
        <p:spPr>
          <a:xfrm>
            <a:off x="2064470" y="4553070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شخصیت پنجم – تصادفی 20%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B5CEE1-E0C9-306E-54EE-CE420ED164D0}"/>
              </a:ext>
            </a:extLst>
          </p:cNvPr>
          <p:cNvSpPr txBox="1"/>
          <p:nvPr/>
        </p:nvSpPr>
        <p:spPr>
          <a:xfrm>
            <a:off x="2064470" y="5289398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شخصیت ششم – تمام آگاه</a:t>
            </a:r>
            <a:endParaRPr lang="en-US" sz="36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3896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7200" dirty="0" err="1">
                <a:cs typeface="B Nazanin" panose="00000400000000000000" pitchFamily="2" charset="-78"/>
              </a:rPr>
              <a:t>نحوه‌ی</a:t>
            </a:r>
            <a:r>
              <a:rPr lang="fa-IR" sz="7200" dirty="0">
                <a:cs typeface="B Nazanin" panose="00000400000000000000" pitchFamily="2" charset="-78"/>
              </a:rPr>
              <a:t> اجرا بازی</a:t>
            </a:r>
            <a:endParaRPr lang="en-US" sz="7200" dirty="0">
              <a:cs typeface="B Nazanin" panose="00000400000000000000" pitchFamily="2" charset="-78"/>
            </a:endParaRPr>
          </a:p>
        </p:txBody>
      </p:sp>
      <p:graphicFrame>
        <p:nvGraphicFramePr>
          <p:cNvPr id="4" name="Table 12">
            <a:extLst>
              <a:ext uri="{FF2B5EF4-FFF2-40B4-BE49-F238E27FC236}">
                <a16:creationId xmlns:a16="http://schemas.microsoft.com/office/drawing/2014/main" id="{D72C4C3D-FC9D-8881-BF5D-95B997DF9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580474"/>
              </p:ext>
            </p:extLst>
          </p:nvPr>
        </p:nvGraphicFramePr>
        <p:xfrm>
          <a:off x="1130676" y="1723858"/>
          <a:ext cx="8143326" cy="210342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14442">
                  <a:extLst>
                    <a:ext uri="{9D8B030D-6E8A-4147-A177-3AD203B41FA5}">
                      <a16:colId xmlns:a16="http://schemas.microsoft.com/office/drawing/2014/main" val="1085254500"/>
                    </a:ext>
                  </a:extLst>
                </a:gridCol>
                <a:gridCol w="2714442">
                  <a:extLst>
                    <a:ext uri="{9D8B030D-6E8A-4147-A177-3AD203B41FA5}">
                      <a16:colId xmlns:a16="http://schemas.microsoft.com/office/drawing/2014/main" val="239218679"/>
                    </a:ext>
                  </a:extLst>
                </a:gridCol>
                <a:gridCol w="2714442">
                  <a:extLst>
                    <a:ext uri="{9D8B030D-6E8A-4147-A177-3AD203B41FA5}">
                      <a16:colId xmlns:a16="http://schemas.microsoft.com/office/drawing/2014/main" val="1305336666"/>
                    </a:ext>
                  </a:extLst>
                </a:gridCol>
              </a:tblGrid>
              <a:tr h="4206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نتیجه</a:t>
                      </a:r>
                      <a:endParaRPr lang="en-US" sz="180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راننده دوم</a:t>
                      </a:r>
                      <a:endParaRPr lang="en-US" sz="180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راننده </a:t>
                      </a:r>
                      <a:r>
                        <a:rPr lang="fa-IR" sz="1800" b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اول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2756369"/>
                  </a:ext>
                </a:extLst>
              </a:tr>
              <a:tr h="4206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هر دو بازنده (حذف از بازی)</a:t>
                      </a:r>
                      <a:endParaRPr lang="en-US" sz="180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ادامه دادن(100-)</a:t>
                      </a:r>
                      <a:endParaRPr lang="en-US" sz="180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ادامه دادن (100-)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6444816"/>
                  </a:ext>
                </a:extLst>
              </a:tr>
              <a:tr h="4206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راننده اول برنده </a:t>
                      </a:r>
                      <a:endParaRPr lang="en-US" sz="180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ادامه ندادن(2-)</a:t>
                      </a:r>
                      <a:endParaRPr lang="en-US" sz="180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ادامه دادن(5+)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8718747"/>
                  </a:ext>
                </a:extLst>
              </a:tr>
              <a:tr h="4206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راننده دوم برنده</a:t>
                      </a:r>
                      <a:endParaRPr lang="en-US" sz="180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ادامه دادن(5+)</a:t>
                      </a:r>
                      <a:endParaRPr lang="en-US" sz="180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ادامه ندادن(2-)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1698577"/>
                  </a:ext>
                </a:extLst>
              </a:tr>
              <a:tr h="4206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مساوی (کسر امتیاز)</a:t>
                      </a:r>
                      <a:endParaRPr lang="en-US" sz="1800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ادامه ندادن(2-)</a:t>
                      </a:r>
                      <a:endParaRPr lang="en-US" sz="1800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ادامه ندادن(2-)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011915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14D00EA-3859-A5C9-F7FE-CF8A6A44AEFE}"/>
              </a:ext>
            </a:extLst>
          </p:cNvPr>
          <p:cNvSpPr txBox="1"/>
          <p:nvPr/>
        </p:nvSpPr>
        <p:spPr>
          <a:xfrm>
            <a:off x="6749591" y="3914279"/>
            <a:ext cx="2182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800" dirty="0">
                <a:cs typeface="B Nazanin" panose="00000400000000000000" pitchFamily="2" charset="-78"/>
              </a:rPr>
              <a:t>شروط پایان بازی</a:t>
            </a:r>
            <a:endParaRPr lang="en-US" sz="2800" dirty="0">
              <a:cs typeface="B Nazanin" panose="000004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294995-5A9E-C13A-51C2-0B396A14224B}"/>
              </a:ext>
            </a:extLst>
          </p:cNvPr>
          <p:cNvSpPr txBox="1"/>
          <p:nvPr/>
        </p:nvSpPr>
        <p:spPr>
          <a:xfrm>
            <a:off x="3733014" y="4524495"/>
            <a:ext cx="48576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fa-IR" sz="2800" dirty="0">
                <a:cs typeface="B Nazanin" panose="00000400000000000000" pitchFamily="2" charset="-78"/>
              </a:rPr>
              <a:t>تنها یک نوع شخصیت باقی مانده باشد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fa-IR" sz="2800" dirty="0">
                <a:cs typeface="B Nazanin" panose="00000400000000000000" pitchFamily="2" charset="-78"/>
              </a:rPr>
              <a:t>تمام راند ها پایان یابد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fa-IR" sz="2800" dirty="0">
                <a:cs typeface="B Nazanin" panose="00000400000000000000" pitchFamily="2" charset="-78"/>
              </a:rPr>
              <a:t>هیچ </a:t>
            </a:r>
            <a:r>
              <a:rPr lang="fa-IR" sz="2800" dirty="0" err="1">
                <a:cs typeface="B Nazanin" panose="00000400000000000000" pitchFamily="2" charset="-78"/>
              </a:rPr>
              <a:t>بازیکنی</a:t>
            </a:r>
            <a:r>
              <a:rPr lang="fa-IR" sz="2800" dirty="0">
                <a:cs typeface="B Nazanin" panose="00000400000000000000" pitchFamily="2" charset="-78"/>
              </a:rPr>
              <a:t> در بازی باقی نمانده باشد</a:t>
            </a:r>
            <a:endParaRPr lang="en-US" sz="28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06428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165396" y="451512"/>
            <a:ext cx="7766936" cy="1412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5400" dirty="0">
                <a:cs typeface="B Titr" panose="00000700000000000000" pitchFamily="2" charset="-78"/>
              </a:rPr>
              <a:t>فهرست مطالب</a:t>
            </a:r>
            <a:endParaRPr lang="en-US" sz="5400" dirty="0"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CD712-E143-BAFC-5016-24A5A0DE4A36}"/>
              </a:ext>
            </a:extLst>
          </p:cNvPr>
          <p:cNvSpPr txBox="1"/>
          <p:nvPr/>
        </p:nvSpPr>
        <p:spPr>
          <a:xfrm>
            <a:off x="2064470" y="1968899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فصل اول: مقدمه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B640F7-99F2-B066-FA21-23EAE6A199CA}"/>
              </a:ext>
            </a:extLst>
          </p:cNvPr>
          <p:cNvSpPr txBox="1"/>
          <p:nvPr/>
        </p:nvSpPr>
        <p:spPr>
          <a:xfrm>
            <a:off x="2064470" y="2806606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فصل دوم: </a:t>
            </a:r>
            <a:r>
              <a:rPr lang="fa-IR" sz="3600" dirty="0" err="1">
                <a:cs typeface="B Nazanin" panose="00000400000000000000" pitchFamily="2" charset="-78"/>
              </a:rPr>
              <a:t>پیاده‌سازی</a:t>
            </a:r>
            <a:r>
              <a:rPr lang="fa-IR" sz="3600" dirty="0">
                <a:cs typeface="B Nazanin" panose="00000400000000000000" pitchFamily="2" charset="-78"/>
              </a:rPr>
              <a:t> بازی و شخصیت ها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01DB4A-55BD-3006-CB36-3D46325CF65C}"/>
              </a:ext>
            </a:extLst>
          </p:cNvPr>
          <p:cNvSpPr txBox="1"/>
          <p:nvPr/>
        </p:nvSpPr>
        <p:spPr>
          <a:xfrm>
            <a:off x="2064470" y="3644313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b="1" i="1" dirty="0">
                <a:cs typeface="B Nazanin" panose="00000400000000000000" pitchFamily="2" charset="-78"/>
              </a:rPr>
              <a:t>فصل سوم: نتایج و آزمایش ها</a:t>
            </a:r>
            <a:endParaRPr lang="en-US" sz="3600" b="1" i="1" dirty="0">
              <a:cs typeface="B Nazanin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AE5849-DE5F-1278-EF4A-9028B8105E7C}"/>
              </a:ext>
            </a:extLst>
          </p:cNvPr>
          <p:cNvSpPr txBox="1"/>
          <p:nvPr/>
        </p:nvSpPr>
        <p:spPr>
          <a:xfrm>
            <a:off x="2064470" y="4482020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فصل چهارم: </a:t>
            </a:r>
            <a:r>
              <a:rPr lang="fa-IR" sz="3600" dirty="0" err="1">
                <a:cs typeface="B Nazanin" panose="00000400000000000000" pitchFamily="2" charset="-78"/>
              </a:rPr>
              <a:t>نتیجه‌گیری</a:t>
            </a:r>
            <a:r>
              <a:rPr lang="fa-IR" sz="3600" dirty="0">
                <a:cs typeface="B Nazanin" panose="00000400000000000000" pitchFamily="2" charset="-78"/>
              </a:rPr>
              <a:t> و پیشنهادات</a:t>
            </a:r>
            <a:endParaRPr lang="en-US" sz="36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7534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165396" y="451512"/>
            <a:ext cx="7766936" cy="1412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5400" dirty="0">
                <a:cs typeface="B Nazanin" panose="00000400000000000000" pitchFamily="2" charset="-78"/>
              </a:rPr>
              <a:t>فصل سوم: نتایج و آزمایش ها</a:t>
            </a:r>
            <a:endParaRPr lang="en-US" sz="5400" dirty="0">
              <a:cs typeface="B Nazanin" panose="000004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CD712-E143-BAFC-5016-24A5A0DE4A36}"/>
              </a:ext>
            </a:extLst>
          </p:cNvPr>
          <p:cNvSpPr txBox="1"/>
          <p:nvPr/>
        </p:nvSpPr>
        <p:spPr>
          <a:xfrm>
            <a:off x="2064470" y="1968899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 err="1">
                <a:cs typeface="B Nazanin" panose="00000400000000000000" pitchFamily="2" charset="-78"/>
              </a:rPr>
              <a:t>سناریو</a:t>
            </a:r>
            <a:r>
              <a:rPr lang="fa-IR" sz="3600" dirty="0">
                <a:cs typeface="B Nazanin" panose="00000400000000000000" pitchFamily="2" charset="-78"/>
              </a:rPr>
              <a:t> های مقایسه ای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B640F7-99F2-B066-FA21-23EAE6A199CA}"/>
              </a:ext>
            </a:extLst>
          </p:cNvPr>
          <p:cNvSpPr txBox="1"/>
          <p:nvPr/>
        </p:nvSpPr>
        <p:spPr>
          <a:xfrm>
            <a:off x="2064470" y="2806606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 err="1">
                <a:cs typeface="B Nazanin" panose="00000400000000000000" pitchFamily="2" charset="-78"/>
              </a:rPr>
              <a:t>سناریو</a:t>
            </a:r>
            <a:r>
              <a:rPr lang="fa-IR" sz="3600" dirty="0">
                <a:cs typeface="B Nazanin" panose="00000400000000000000" pitchFamily="2" charset="-78"/>
              </a:rPr>
              <a:t> های ترکیبی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01DB4A-55BD-3006-CB36-3D46325CF65C}"/>
              </a:ext>
            </a:extLst>
          </p:cNvPr>
          <p:cNvSpPr txBox="1"/>
          <p:nvPr/>
        </p:nvSpPr>
        <p:spPr>
          <a:xfrm>
            <a:off x="2064470" y="3644313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 err="1">
                <a:cs typeface="B Nazanin" panose="00000400000000000000" pitchFamily="2" charset="-78"/>
              </a:rPr>
              <a:t>سناریو</a:t>
            </a:r>
            <a:r>
              <a:rPr lang="fa-IR" sz="3600" dirty="0">
                <a:cs typeface="B Nazanin" panose="00000400000000000000" pitchFamily="2" charset="-78"/>
              </a:rPr>
              <a:t> های حساس به تصادفی بودن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AE5849-DE5F-1278-EF4A-9028B8105E7C}"/>
              </a:ext>
            </a:extLst>
          </p:cNvPr>
          <p:cNvSpPr txBox="1"/>
          <p:nvPr/>
        </p:nvSpPr>
        <p:spPr>
          <a:xfrm>
            <a:off x="2064470" y="4482020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 err="1">
                <a:cs typeface="B Nazanin" panose="00000400000000000000" pitchFamily="2" charset="-78"/>
              </a:rPr>
              <a:t>سناریو</a:t>
            </a:r>
            <a:r>
              <a:rPr lang="fa-IR" sz="3600" dirty="0">
                <a:cs typeface="B Nazanin" panose="00000400000000000000" pitchFamily="2" charset="-78"/>
              </a:rPr>
              <a:t> های تعاملی</a:t>
            </a:r>
            <a:endParaRPr lang="en-US" sz="36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95439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7200" dirty="0" err="1">
                <a:cs typeface="B Nazanin" panose="00000400000000000000" pitchFamily="2" charset="-78"/>
              </a:rPr>
              <a:t>سناریو</a:t>
            </a:r>
            <a:r>
              <a:rPr lang="fa-IR" sz="7200" dirty="0">
                <a:cs typeface="B Nazanin" panose="00000400000000000000" pitchFamily="2" charset="-78"/>
              </a:rPr>
              <a:t> های مقایسه ای</a:t>
            </a:r>
            <a:endParaRPr lang="en-US" sz="7200" dirty="0">
              <a:cs typeface="B Nazanin" panose="00000400000000000000" pitchFamily="2" charset="-78"/>
            </a:endParaRPr>
          </a:p>
        </p:txBody>
      </p:sp>
      <p:graphicFrame>
        <p:nvGraphicFramePr>
          <p:cNvPr id="4" name="Table 12">
            <a:extLst>
              <a:ext uri="{FF2B5EF4-FFF2-40B4-BE49-F238E27FC236}">
                <a16:creationId xmlns:a16="http://schemas.microsoft.com/office/drawing/2014/main" id="{D72C4C3D-FC9D-8881-BF5D-95B997DF9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64624"/>
              </p:ext>
            </p:extLst>
          </p:nvPr>
        </p:nvGraphicFramePr>
        <p:xfrm>
          <a:off x="716437" y="1480837"/>
          <a:ext cx="8557566" cy="41706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52522">
                  <a:extLst>
                    <a:ext uri="{9D8B030D-6E8A-4147-A177-3AD203B41FA5}">
                      <a16:colId xmlns:a16="http://schemas.microsoft.com/office/drawing/2014/main" val="1085254500"/>
                    </a:ext>
                  </a:extLst>
                </a:gridCol>
                <a:gridCol w="2852522">
                  <a:extLst>
                    <a:ext uri="{9D8B030D-6E8A-4147-A177-3AD203B41FA5}">
                      <a16:colId xmlns:a16="http://schemas.microsoft.com/office/drawing/2014/main" val="239218679"/>
                    </a:ext>
                  </a:extLst>
                </a:gridCol>
                <a:gridCol w="2852522">
                  <a:extLst>
                    <a:ext uri="{9D8B030D-6E8A-4147-A177-3AD203B41FA5}">
                      <a16:colId xmlns:a16="http://schemas.microsoft.com/office/drawing/2014/main" val="1305336666"/>
                    </a:ext>
                  </a:extLst>
                </a:gridCol>
              </a:tblGrid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توضیحات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جمعیت (نفر)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ترکیب شخصیت‌ها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2756369"/>
                  </a:ext>
                </a:extLst>
              </a:tr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انتظار می‌رود شخصیت حریص با توجه به استراتژی تهاجمی خود، نسبت به شخصیت مهربان عملکرد بهتری داشته باشد.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10 + 10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شخصیت اول (حریص) و شخصیت دوم (مهربان)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6444816"/>
                  </a:ext>
                </a:extLst>
              </a:tr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پیش‌بینی می‌شود شخصیت تمام‌آگاه در بلندمدت با استفاده از اطلاعات پیشین، عملکرد پایدارتری نسبت به شخصیت تصادفی داشته باشد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10 + 10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شخصیت ششم (تمام‌آگاه) و شخصیت پنجم (تصادفی با احتمال 20% حریص)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8718747"/>
                  </a:ext>
                </a:extLst>
              </a:tr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این ترکیب، تقابل میان استراتژی معتدل (تصادفی متوازن) و استراتژی تندرو (حریص) را نشان می‌دهد</a:t>
                      </a:r>
                      <a:r>
                        <a:rPr lang="en-US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10 + 10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شخصیت چهارم (تصادفی با احتمال 50</a:t>
                      </a:r>
                      <a:r>
                        <a:rPr lang="ar-SA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٪</a:t>
                      </a:r>
                      <a:r>
                        <a:rPr lang="ar-SA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 حریص) و شخصیت اول (حریص)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1698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867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5F38FA-0787-668C-6BFB-BD3EBE0F9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761" y="1245399"/>
            <a:ext cx="7167670" cy="537575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7200" dirty="0" err="1">
                <a:cs typeface="B Nazanin" panose="00000400000000000000" pitchFamily="2" charset="-78"/>
              </a:rPr>
              <a:t>سناریو</a:t>
            </a:r>
            <a:r>
              <a:rPr lang="fa-IR" sz="7200" dirty="0">
                <a:cs typeface="B Nazanin" panose="00000400000000000000" pitchFamily="2" charset="-78"/>
              </a:rPr>
              <a:t> های مقایسه ای</a:t>
            </a:r>
            <a:endParaRPr lang="en-US" sz="7200" dirty="0">
              <a:cs typeface="B Nazanin" panose="000004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C672B-DA8B-A322-FD6B-EA3C879890DF}"/>
              </a:ext>
            </a:extLst>
          </p:cNvPr>
          <p:cNvSpPr txBox="1"/>
          <p:nvPr/>
        </p:nvSpPr>
        <p:spPr>
          <a:xfrm>
            <a:off x="6711883" y="1319753"/>
            <a:ext cx="28897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مقایسه شخصیت حریص و مهربان</a:t>
            </a:r>
            <a:endParaRPr lang="en-US" sz="2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71634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5F38FA-0787-668C-6BFB-BD3EBE0F9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761" y="1245399"/>
            <a:ext cx="7167670" cy="537575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7200" dirty="0" err="1">
                <a:cs typeface="B Nazanin" panose="00000400000000000000" pitchFamily="2" charset="-78"/>
              </a:rPr>
              <a:t>سناریو</a:t>
            </a:r>
            <a:r>
              <a:rPr lang="fa-IR" sz="7200" dirty="0">
                <a:cs typeface="B Nazanin" panose="00000400000000000000" pitchFamily="2" charset="-78"/>
              </a:rPr>
              <a:t> های مقایسه ای</a:t>
            </a:r>
            <a:endParaRPr lang="en-US" sz="7200" dirty="0">
              <a:cs typeface="B Nazanin" panose="000004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C672B-DA8B-A322-FD6B-EA3C879890DF}"/>
              </a:ext>
            </a:extLst>
          </p:cNvPr>
          <p:cNvSpPr txBox="1"/>
          <p:nvPr/>
        </p:nvSpPr>
        <p:spPr>
          <a:xfrm>
            <a:off x="5420413" y="1319753"/>
            <a:ext cx="4181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مقایسه شخصیت تمام آگاه و تصادفی 20%</a:t>
            </a:r>
            <a:endParaRPr lang="en-US" sz="2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97357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5F38FA-0787-668C-6BFB-BD3EBE0F9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761" y="1245399"/>
            <a:ext cx="7167669" cy="537575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7200" dirty="0" err="1">
                <a:cs typeface="B Nazanin" panose="00000400000000000000" pitchFamily="2" charset="-78"/>
              </a:rPr>
              <a:t>سناریو</a:t>
            </a:r>
            <a:r>
              <a:rPr lang="fa-IR" sz="7200" dirty="0">
                <a:cs typeface="B Nazanin" panose="00000400000000000000" pitchFamily="2" charset="-78"/>
              </a:rPr>
              <a:t> های مقایسه ای</a:t>
            </a:r>
            <a:endParaRPr lang="en-US" sz="7200" dirty="0">
              <a:cs typeface="B Nazanin" panose="000004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C672B-DA8B-A322-FD6B-EA3C879890DF}"/>
              </a:ext>
            </a:extLst>
          </p:cNvPr>
          <p:cNvSpPr txBox="1"/>
          <p:nvPr/>
        </p:nvSpPr>
        <p:spPr>
          <a:xfrm>
            <a:off x="5420413" y="1319753"/>
            <a:ext cx="4181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مقایسه شخصیت حریص و تصادفی 50%</a:t>
            </a:r>
            <a:endParaRPr lang="en-US" sz="2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71754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5F38FA-0787-668C-6BFB-BD3EBE0F9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761" y="1245399"/>
            <a:ext cx="7167669" cy="537575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7200" dirty="0" err="1">
                <a:cs typeface="B Nazanin" panose="00000400000000000000" pitchFamily="2" charset="-78"/>
              </a:rPr>
              <a:t>سناریو</a:t>
            </a:r>
            <a:r>
              <a:rPr lang="fa-IR" sz="7200" dirty="0">
                <a:cs typeface="B Nazanin" panose="00000400000000000000" pitchFamily="2" charset="-78"/>
              </a:rPr>
              <a:t> های مقایسه ای</a:t>
            </a:r>
            <a:endParaRPr lang="en-US" sz="7200" dirty="0">
              <a:cs typeface="B Nazanin" panose="000004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C672B-DA8B-A322-FD6B-EA3C879890DF}"/>
              </a:ext>
            </a:extLst>
          </p:cNvPr>
          <p:cNvSpPr txBox="1"/>
          <p:nvPr/>
        </p:nvSpPr>
        <p:spPr>
          <a:xfrm>
            <a:off x="5420413" y="1319753"/>
            <a:ext cx="4181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مقایسه شخصیت حریص و تصادفی 50%</a:t>
            </a:r>
            <a:endParaRPr lang="en-US" sz="2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92250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7200" dirty="0" err="1">
                <a:cs typeface="B Nazanin" panose="00000400000000000000" pitchFamily="2" charset="-78"/>
              </a:rPr>
              <a:t>سناریو</a:t>
            </a:r>
            <a:r>
              <a:rPr lang="fa-IR" sz="7200" dirty="0">
                <a:cs typeface="B Nazanin" panose="00000400000000000000" pitchFamily="2" charset="-78"/>
              </a:rPr>
              <a:t> های ترکیبی</a:t>
            </a:r>
            <a:endParaRPr lang="en-US" sz="7200" dirty="0">
              <a:cs typeface="B Nazanin" panose="00000400000000000000" pitchFamily="2" charset="-78"/>
            </a:endParaRPr>
          </a:p>
        </p:txBody>
      </p:sp>
      <p:graphicFrame>
        <p:nvGraphicFramePr>
          <p:cNvPr id="4" name="Table 12">
            <a:extLst>
              <a:ext uri="{FF2B5EF4-FFF2-40B4-BE49-F238E27FC236}">
                <a16:creationId xmlns:a16="http://schemas.microsoft.com/office/drawing/2014/main" id="{D72C4C3D-FC9D-8881-BF5D-95B997DF9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404824"/>
              </p:ext>
            </p:extLst>
          </p:nvPr>
        </p:nvGraphicFramePr>
        <p:xfrm>
          <a:off x="716437" y="1480836"/>
          <a:ext cx="8557566" cy="393957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52522">
                  <a:extLst>
                    <a:ext uri="{9D8B030D-6E8A-4147-A177-3AD203B41FA5}">
                      <a16:colId xmlns:a16="http://schemas.microsoft.com/office/drawing/2014/main" val="1085254500"/>
                    </a:ext>
                  </a:extLst>
                </a:gridCol>
                <a:gridCol w="2852522">
                  <a:extLst>
                    <a:ext uri="{9D8B030D-6E8A-4147-A177-3AD203B41FA5}">
                      <a16:colId xmlns:a16="http://schemas.microsoft.com/office/drawing/2014/main" val="239218679"/>
                    </a:ext>
                  </a:extLst>
                </a:gridCol>
                <a:gridCol w="2852522">
                  <a:extLst>
                    <a:ext uri="{9D8B030D-6E8A-4147-A177-3AD203B41FA5}">
                      <a16:colId xmlns:a16="http://schemas.microsoft.com/office/drawing/2014/main" val="1305336666"/>
                    </a:ext>
                  </a:extLst>
                </a:gridCol>
              </a:tblGrid>
              <a:tr h="699690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توضیحات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جمعیت (نفر)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ترکیب شخصیت‌ها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2756369"/>
                  </a:ext>
                </a:extLst>
              </a:tr>
              <a:tr h="699690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انتظار برتری استراتژی های حریصانه در مقابل متعادل و منفعل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10 + 10 + 10 + 10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از هر استراتژی بطور مساوی، حریص، مهربان، تصادفی و تمام‌آگاه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6444816"/>
                  </a:ext>
                </a:extLst>
              </a:tr>
              <a:tr h="952574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آیا شخصیت تمام‌آگاه بازی را متعادل میکند یا برتری استراتژی با شخصیت حریص است.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20 + 10 + 20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شخصیت حریص و شخصیت مهربان و شخصیت ششم (تمام‌آگاه)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8718747"/>
                  </a:ext>
                </a:extLst>
              </a:tr>
              <a:tr h="1587623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این ترکیب، تقابل میان استراتژی نسبتا منفعل (تصادفی 20%) و استراتژی تندرو (حریص) را نشان می‌دهد با نسبت جمعیت متفاوت.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30 + 20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شخصیت پنجم (تصادفی با احتمال 20</a:t>
                      </a:r>
                      <a:r>
                        <a:rPr lang="ar-SA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٪</a:t>
                      </a:r>
                      <a:r>
                        <a:rPr lang="ar-SA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 حریص) و شخصیت اول (حریص)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1698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8661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5F38FA-0787-668C-6BFB-BD3EBE0F9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761" y="1245399"/>
            <a:ext cx="7167668" cy="537575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7200" dirty="0" err="1">
                <a:cs typeface="B Nazanin" panose="00000400000000000000" pitchFamily="2" charset="-78"/>
              </a:rPr>
              <a:t>سناریو</a:t>
            </a:r>
            <a:r>
              <a:rPr lang="fa-IR" sz="7200" dirty="0">
                <a:cs typeface="B Nazanin" panose="00000400000000000000" pitchFamily="2" charset="-78"/>
              </a:rPr>
              <a:t> های ترکیبی</a:t>
            </a:r>
            <a:endParaRPr lang="en-US" sz="7200" dirty="0">
              <a:cs typeface="B Nazanin" panose="000004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C672B-DA8B-A322-FD6B-EA3C879890DF}"/>
              </a:ext>
            </a:extLst>
          </p:cNvPr>
          <p:cNvSpPr txBox="1"/>
          <p:nvPr/>
        </p:nvSpPr>
        <p:spPr>
          <a:xfrm>
            <a:off x="4703975" y="1319753"/>
            <a:ext cx="489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شخصیت های حریص، مهربان، تصادفی 50% و تمام آگاه</a:t>
            </a:r>
            <a:endParaRPr lang="en-US" sz="2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9919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5F38FA-0787-668C-6BFB-BD3EBE0F9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761" y="1245399"/>
            <a:ext cx="7167668" cy="537575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23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7200" dirty="0" err="1">
                <a:cs typeface="B Nazanin" panose="00000400000000000000" pitchFamily="2" charset="-78"/>
              </a:rPr>
              <a:t>سناریو</a:t>
            </a:r>
            <a:r>
              <a:rPr lang="fa-IR" sz="7200" dirty="0">
                <a:cs typeface="B Nazanin" panose="00000400000000000000" pitchFamily="2" charset="-78"/>
              </a:rPr>
              <a:t> های ترکیبی</a:t>
            </a:r>
            <a:endParaRPr lang="en-US" sz="7200" dirty="0">
              <a:cs typeface="B Nazanin" panose="000004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C672B-DA8B-A322-FD6B-EA3C879890DF}"/>
              </a:ext>
            </a:extLst>
          </p:cNvPr>
          <p:cNvSpPr txBox="1"/>
          <p:nvPr/>
        </p:nvSpPr>
        <p:spPr>
          <a:xfrm>
            <a:off x="4703975" y="1319753"/>
            <a:ext cx="489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شخصیت های حریص، مهربان، تصادفی 50% و تمام آگاه</a:t>
            </a:r>
            <a:endParaRPr lang="en-US" sz="2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8066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5F38FA-0787-668C-6BFB-BD3EBE0F9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762" y="1245399"/>
            <a:ext cx="7167666" cy="537575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24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7200" dirty="0" err="1">
                <a:cs typeface="B Nazanin" panose="00000400000000000000" pitchFamily="2" charset="-78"/>
              </a:rPr>
              <a:t>سناریو</a:t>
            </a:r>
            <a:r>
              <a:rPr lang="fa-IR" sz="7200" dirty="0">
                <a:cs typeface="B Nazanin" panose="00000400000000000000" pitchFamily="2" charset="-78"/>
              </a:rPr>
              <a:t> های ترکیبی</a:t>
            </a:r>
            <a:endParaRPr lang="en-US" sz="7200" dirty="0">
              <a:cs typeface="B Nazanin" panose="000004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C672B-DA8B-A322-FD6B-EA3C879890DF}"/>
              </a:ext>
            </a:extLst>
          </p:cNvPr>
          <p:cNvSpPr txBox="1"/>
          <p:nvPr/>
        </p:nvSpPr>
        <p:spPr>
          <a:xfrm>
            <a:off x="4703975" y="1319753"/>
            <a:ext cx="489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شخصیت های حریص، مهربان و تمام آگاه</a:t>
            </a:r>
            <a:endParaRPr lang="en-US" sz="2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952725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5F38FA-0787-668C-6BFB-BD3EBE0F9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762" y="1245399"/>
            <a:ext cx="7167666" cy="53757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25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7200" dirty="0" err="1">
                <a:cs typeface="B Nazanin" panose="00000400000000000000" pitchFamily="2" charset="-78"/>
              </a:rPr>
              <a:t>سناریو</a:t>
            </a:r>
            <a:r>
              <a:rPr lang="fa-IR" sz="7200" dirty="0">
                <a:cs typeface="B Nazanin" panose="00000400000000000000" pitchFamily="2" charset="-78"/>
              </a:rPr>
              <a:t> های ترکیبی</a:t>
            </a:r>
            <a:endParaRPr lang="en-US" sz="7200" dirty="0">
              <a:cs typeface="B Nazanin" panose="000004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C672B-DA8B-A322-FD6B-EA3C879890DF}"/>
              </a:ext>
            </a:extLst>
          </p:cNvPr>
          <p:cNvSpPr txBox="1"/>
          <p:nvPr/>
        </p:nvSpPr>
        <p:spPr>
          <a:xfrm>
            <a:off x="4703975" y="1319753"/>
            <a:ext cx="489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شخصیت های حریص و تصادفی 20%</a:t>
            </a:r>
            <a:endParaRPr lang="en-US" sz="2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80427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26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7200" dirty="0" err="1">
                <a:cs typeface="B Nazanin" panose="00000400000000000000" pitchFamily="2" charset="-78"/>
              </a:rPr>
              <a:t>سناریو</a:t>
            </a:r>
            <a:r>
              <a:rPr lang="fa-IR" sz="7200" dirty="0">
                <a:cs typeface="B Nazanin" panose="00000400000000000000" pitchFamily="2" charset="-78"/>
              </a:rPr>
              <a:t> های حساس به تصادفی بودن</a:t>
            </a:r>
            <a:endParaRPr lang="en-US" sz="7200" dirty="0">
              <a:cs typeface="B Nazanin" panose="00000400000000000000" pitchFamily="2" charset="-78"/>
            </a:endParaRPr>
          </a:p>
        </p:txBody>
      </p:sp>
      <p:graphicFrame>
        <p:nvGraphicFramePr>
          <p:cNvPr id="4" name="Table 12">
            <a:extLst>
              <a:ext uri="{FF2B5EF4-FFF2-40B4-BE49-F238E27FC236}">
                <a16:creationId xmlns:a16="http://schemas.microsoft.com/office/drawing/2014/main" id="{D72C4C3D-FC9D-8881-BF5D-95B997DF9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886149"/>
              </p:ext>
            </p:extLst>
          </p:nvPr>
        </p:nvGraphicFramePr>
        <p:xfrm>
          <a:off x="716437" y="1480837"/>
          <a:ext cx="8557566" cy="36645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52522">
                  <a:extLst>
                    <a:ext uri="{9D8B030D-6E8A-4147-A177-3AD203B41FA5}">
                      <a16:colId xmlns:a16="http://schemas.microsoft.com/office/drawing/2014/main" val="1085254500"/>
                    </a:ext>
                  </a:extLst>
                </a:gridCol>
                <a:gridCol w="2852522">
                  <a:extLst>
                    <a:ext uri="{9D8B030D-6E8A-4147-A177-3AD203B41FA5}">
                      <a16:colId xmlns:a16="http://schemas.microsoft.com/office/drawing/2014/main" val="239218679"/>
                    </a:ext>
                  </a:extLst>
                </a:gridCol>
                <a:gridCol w="2852522">
                  <a:extLst>
                    <a:ext uri="{9D8B030D-6E8A-4147-A177-3AD203B41FA5}">
                      <a16:colId xmlns:a16="http://schemas.microsoft.com/office/drawing/2014/main" val="1305336666"/>
                    </a:ext>
                  </a:extLst>
                </a:gridCol>
              </a:tblGrid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توضیحات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جمعیت (نفر)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ترکیب شخصیت‌ها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2756369"/>
                  </a:ext>
                </a:extLst>
              </a:tr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می‌توان به تست خیانت تشبیه کرد که با وجود اندکی احتمال تصادفی بودن می توان نتایج قابل توجهی به دست آورد.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10 + 10 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تصادفی 20% حریص و مهربان 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6444816"/>
                  </a:ext>
                </a:extLst>
              </a:tr>
              <a:tr h="60448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تعادل در مقابل یادگیری حرکات، کدام یک عملکرد بهتری دارند.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10 + 10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تمام‌آگاه و تصادفی 50% حریص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8718747"/>
                  </a:ext>
                </a:extLst>
              </a:tr>
              <a:tr h="1139815"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بالاترین حد از برخورد حریصانه در مسابقه، آیا مقداری عقب‌نشینی مفید واقع می‌شود؟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10 + 10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تصادفی 80% حریص و حریص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1698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5991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5F38FA-0787-668C-6BFB-BD3EBE0F9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762" y="1245399"/>
            <a:ext cx="7167665" cy="537574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27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7200" dirty="0" err="1">
                <a:cs typeface="B Nazanin" panose="00000400000000000000" pitchFamily="2" charset="-78"/>
              </a:rPr>
              <a:t>سناریو</a:t>
            </a:r>
            <a:r>
              <a:rPr lang="fa-IR" sz="7200" dirty="0">
                <a:cs typeface="B Nazanin" panose="00000400000000000000" pitchFamily="2" charset="-78"/>
              </a:rPr>
              <a:t> های حساس به تصادفی بودن</a:t>
            </a:r>
            <a:endParaRPr lang="en-US" sz="7200" dirty="0">
              <a:cs typeface="B Nazanin" panose="000004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C672B-DA8B-A322-FD6B-EA3C879890DF}"/>
              </a:ext>
            </a:extLst>
          </p:cNvPr>
          <p:cNvSpPr txBox="1"/>
          <p:nvPr/>
        </p:nvSpPr>
        <p:spPr>
          <a:xfrm>
            <a:off x="4703975" y="1319753"/>
            <a:ext cx="489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شخصیت های مهربان و تصادفی 20%</a:t>
            </a:r>
            <a:endParaRPr lang="en-US" sz="2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366072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5F38FA-0787-668C-6BFB-BD3EBE0F9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762" y="1245399"/>
            <a:ext cx="7167665" cy="537574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28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7200" dirty="0" err="1">
                <a:cs typeface="B Nazanin" panose="00000400000000000000" pitchFamily="2" charset="-78"/>
              </a:rPr>
              <a:t>سناریو</a:t>
            </a:r>
            <a:r>
              <a:rPr lang="fa-IR" sz="7200" dirty="0">
                <a:cs typeface="B Nazanin" panose="00000400000000000000" pitchFamily="2" charset="-78"/>
              </a:rPr>
              <a:t> های حساس به تصادفی بودن</a:t>
            </a:r>
            <a:endParaRPr lang="en-US" sz="7200" dirty="0">
              <a:cs typeface="B Nazanin" panose="000004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C672B-DA8B-A322-FD6B-EA3C879890DF}"/>
              </a:ext>
            </a:extLst>
          </p:cNvPr>
          <p:cNvSpPr txBox="1"/>
          <p:nvPr/>
        </p:nvSpPr>
        <p:spPr>
          <a:xfrm>
            <a:off x="4703975" y="1319753"/>
            <a:ext cx="489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شخصیت های تمام آگاه و تصادفی 50%</a:t>
            </a:r>
            <a:endParaRPr lang="en-US" sz="2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699393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5F38FA-0787-668C-6BFB-BD3EBE0F9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762" y="1245399"/>
            <a:ext cx="7167664" cy="537574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29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7200" dirty="0" err="1">
                <a:cs typeface="B Nazanin" panose="00000400000000000000" pitchFamily="2" charset="-78"/>
              </a:rPr>
              <a:t>سناریو</a:t>
            </a:r>
            <a:r>
              <a:rPr lang="fa-IR" sz="7200" dirty="0">
                <a:cs typeface="B Nazanin" panose="00000400000000000000" pitchFamily="2" charset="-78"/>
              </a:rPr>
              <a:t> های حساس به تصادفی بودن</a:t>
            </a:r>
            <a:endParaRPr lang="en-US" sz="7200" dirty="0">
              <a:cs typeface="B Nazanin" panose="000004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C672B-DA8B-A322-FD6B-EA3C879890DF}"/>
              </a:ext>
            </a:extLst>
          </p:cNvPr>
          <p:cNvSpPr txBox="1"/>
          <p:nvPr/>
        </p:nvSpPr>
        <p:spPr>
          <a:xfrm>
            <a:off x="4703975" y="1319753"/>
            <a:ext cx="489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شخصیت های حریص و تصادفی 80%</a:t>
            </a:r>
            <a:endParaRPr lang="en-US" sz="2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49521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5F38FA-0787-668C-6BFB-BD3EBE0F9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762" y="1245399"/>
            <a:ext cx="7167664" cy="537574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30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7200" dirty="0" err="1">
                <a:cs typeface="B Nazanin" panose="00000400000000000000" pitchFamily="2" charset="-78"/>
              </a:rPr>
              <a:t>سناریو</a:t>
            </a:r>
            <a:r>
              <a:rPr lang="fa-IR" sz="7200" dirty="0">
                <a:cs typeface="B Nazanin" panose="00000400000000000000" pitchFamily="2" charset="-78"/>
              </a:rPr>
              <a:t> های حساس به تصادفی بودن</a:t>
            </a:r>
            <a:endParaRPr lang="en-US" sz="7200" dirty="0">
              <a:cs typeface="B Nazanin" panose="000004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C672B-DA8B-A322-FD6B-EA3C879890DF}"/>
              </a:ext>
            </a:extLst>
          </p:cNvPr>
          <p:cNvSpPr txBox="1"/>
          <p:nvPr/>
        </p:nvSpPr>
        <p:spPr>
          <a:xfrm>
            <a:off x="4703975" y="1319753"/>
            <a:ext cx="489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شخصیت های حریص و تصادفی 80%</a:t>
            </a:r>
            <a:endParaRPr lang="en-US" sz="2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147846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31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7200" dirty="0" err="1">
                <a:cs typeface="B Nazanin" panose="00000400000000000000" pitchFamily="2" charset="-78"/>
              </a:rPr>
              <a:t>سناریو</a:t>
            </a:r>
            <a:r>
              <a:rPr lang="fa-IR" sz="7200" dirty="0">
                <a:cs typeface="B Nazanin" panose="00000400000000000000" pitchFamily="2" charset="-78"/>
              </a:rPr>
              <a:t> های تعاملی</a:t>
            </a:r>
            <a:endParaRPr lang="en-US" sz="7200" dirty="0">
              <a:cs typeface="B Nazanin" panose="00000400000000000000" pitchFamily="2" charset="-78"/>
            </a:endParaRPr>
          </a:p>
        </p:txBody>
      </p:sp>
      <p:graphicFrame>
        <p:nvGraphicFramePr>
          <p:cNvPr id="4" name="Table 12">
            <a:extLst>
              <a:ext uri="{FF2B5EF4-FFF2-40B4-BE49-F238E27FC236}">
                <a16:creationId xmlns:a16="http://schemas.microsoft.com/office/drawing/2014/main" id="{D72C4C3D-FC9D-8881-BF5D-95B997DF9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915501"/>
              </p:ext>
            </p:extLst>
          </p:nvPr>
        </p:nvGraphicFramePr>
        <p:xfrm>
          <a:off x="716437" y="2365575"/>
          <a:ext cx="8557566" cy="19481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52522">
                  <a:extLst>
                    <a:ext uri="{9D8B030D-6E8A-4147-A177-3AD203B41FA5}">
                      <a16:colId xmlns:a16="http://schemas.microsoft.com/office/drawing/2014/main" val="1085254500"/>
                    </a:ext>
                  </a:extLst>
                </a:gridCol>
                <a:gridCol w="2852522">
                  <a:extLst>
                    <a:ext uri="{9D8B030D-6E8A-4147-A177-3AD203B41FA5}">
                      <a16:colId xmlns:a16="http://schemas.microsoft.com/office/drawing/2014/main" val="239218679"/>
                    </a:ext>
                  </a:extLst>
                </a:gridCol>
                <a:gridCol w="2852522">
                  <a:extLst>
                    <a:ext uri="{9D8B030D-6E8A-4147-A177-3AD203B41FA5}">
                      <a16:colId xmlns:a16="http://schemas.microsoft.com/office/drawing/2014/main" val="1305336666"/>
                    </a:ext>
                  </a:extLst>
                </a:gridCol>
              </a:tblGrid>
              <a:tr h="649388">
                <a:tc>
                  <a:txBody>
                    <a:bodyPr/>
                    <a:lstStyle/>
                    <a:p>
                      <a:pPr marL="0" marR="0" indent="27432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توضیحات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جمعیت (نفر)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ترکیب شخصیت‌ها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2756369"/>
                  </a:ext>
                </a:extLst>
              </a:tr>
              <a:tr h="649388">
                <a:tc>
                  <a:txBody>
                    <a:bodyPr/>
                    <a:lstStyle/>
                    <a:p>
                      <a:pPr marL="0" marR="0" indent="27432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تاثیر تعاملات و پیچیدگی بیشتر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از هر شخصیت 10 بازیکن 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از تمام شخصیت های اول تا ششم  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6444816"/>
                  </a:ext>
                </a:extLst>
              </a:tr>
              <a:tr h="649388">
                <a:tc>
                  <a:txBody>
                    <a:bodyPr/>
                    <a:lstStyle/>
                    <a:p>
                      <a:pPr marL="0" marR="0" indent="27432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تمام‌آگاه می‌تواند سیستم را پایدار و باعث بقا خود شود؟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5 + 35</a:t>
                      </a:r>
                      <a:endParaRPr lang="en-US" sz="1800" b="1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274320" algn="just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800" b="1" dirty="0">
                          <a:effectLst/>
                          <a:latin typeface="B Nazanin" panose="00000400000000000000" pitchFamily="2" charset="-78"/>
                          <a:ea typeface="Times New Roman" panose="02020603050405020304" pitchFamily="18" charset="0"/>
                          <a:cs typeface="B Nazanin" panose="00000400000000000000" pitchFamily="2" charset="-78"/>
                        </a:rPr>
                        <a:t>تمام‌آگاه و حریص</a:t>
                      </a:r>
                      <a:endParaRPr lang="en-US" sz="1800" b="1" dirty="0">
                        <a:effectLst/>
                        <a:latin typeface="B Nazanin" panose="00000400000000000000" pitchFamily="2" charset="-78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8718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203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5F38FA-0787-668C-6BFB-BD3EBE0F9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763" y="1245399"/>
            <a:ext cx="7167662" cy="537574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32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7200" dirty="0" err="1">
                <a:cs typeface="B Nazanin" panose="00000400000000000000" pitchFamily="2" charset="-78"/>
              </a:rPr>
              <a:t>سناریو</a:t>
            </a:r>
            <a:r>
              <a:rPr lang="fa-IR" sz="7200" dirty="0">
                <a:cs typeface="B Nazanin" panose="00000400000000000000" pitchFamily="2" charset="-78"/>
              </a:rPr>
              <a:t> های تعاملی</a:t>
            </a:r>
            <a:endParaRPr lang="en-US" sz="7200" dirty="0">
              <a:cs typeface="B Nazanin" panose="000004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C672B-DA8B-A322-FD6B-EA3C879890DF}"/>
              </a:ext>
            </a:extLst>
          </p:cNvPr>
          <p:cNvSpPr txBox="1"/>
          <p:nvPr/>
        </p:nvSpPr>
        <p:spPr>
          <a:xfrm>
            <a:off x="4703975" y="1319753"/>
            <a:ext cx="489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تمام شخصیت ها</a:t>
            </a:r>
            <a:endParaRPr lang="en-US" sz="2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351142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5F38FA-0787-668C-6BFB-BD3EBE0F9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763" y="1245399"/>
            <a:ext cx="7167662" cy="537574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33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7200" dirty="0" err="1">
                <a:cs typeface="B Nazanin" panose="00000400000000000000" pitchFamily="2" charset="-78"/>
              </a:rPr>
              <a:t>سناریو</a:t>
            </a:r>
            <a:r>
              <a:rPr lang="fa-IR" sz="7200" dirty="0">
                <a:cs typeface="B Nazanin" panose="00000400000000000000" pitchFamily="2" charset="-78"/>
              </a:rPr>
              <a:t> های تعاملی</a:t>
            </a:r>
            <a:endParaRPr lang="en-US" sz="7200" dirty="0">
              <a:cs typeface="B Nazanin" panose="000004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C672B-DA8B-A322-FD6B-EA3C879890DF}"/>
              </a:ext>
            </a:extLst>
          </p:cNvPr>
          <p:cNvSpPr txBox="1"/>
          <p:nvPr/>
        </p:nvSpPr>
        <p:spPr>
          <a:xfrm>
            <a:off x="4703975" y="1319753"/>
            <a:ext cx="489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تمام شخصیت ها</a:t>
            </a:r>
            <a:endParaRPr lang="en-US" sz="2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17411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5F38FA-0787-668C-6BFB-BD3EBE0F9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763" y="1245399"/>
            <a:ext cx="7167661" cy="537574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34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03695" y="451512"/>
            <a:ext cx="8828637" cy="868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7200" dirty="0" err="1">
                <a:cs typeface="B Nazanin" panose="00000400000000000000" pitchFamily="2" charset="-78"/>
              </a:rPr>
              <a:t>سناریو</a:t>
            </a:r>
            <a:r>
              <a:rPr lang="fa-IR" sz="7200" dirty="0">
                <a:cs typeface="B Nazanin" panose="00000400000000000000" pitchFamily="2" charset="-78"/>
              </a:rPr>
              <a:t> های تعاملی</a:t>
            </a:r>
            <a:endParaRPr lang="en-US" sz="7200" dirty="0">
              <a:cs typeface="B Nazanin" panose="000004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C672B-DA8B-A322-FD6B-EA3C879890DF}"/>
              </a:ext>
            </a:extLst>
          </p:cNvPr>
          <p:cNvSpPr txBox="1"/>
          <p:nvPr/>
        </p:nvSpPr>
        <p:spPr>
          <a:xfrm>
            <a:off x="4703975" y="1319753"/>
            <a:ext cx="4897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cs typeface="B Nazanin" panose="00000400000000000000" pitchFamily="2" charset="-78"/>
              </a:rPr>
              <a:t>شخصیت حریص و تمام آگاه</a:t>
            </a:r>
            <a:endParaRPr lang="en-US" sz="2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671544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35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165396" y="451512"/>
            <a:ext cx="7766936" cy="1412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5400" dirty="0">
                <a:cs typeface="B Titr" panose="00000700000000000000" pitchFamily="2" charset="-78"/>
              </a:rPr>
              <a:t>فهرست مطالب</a:t>
            </a:r>
            <a:endParaRPr lang="en-US" sz="5400" dirty="0"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CD712-E143-BAFC-5016-24A5A0DE4A36}"/>
              </a:ext>
            </a:extLst>
          </p:cNvPr>
          <p:cNvSpPr txBox="1"/>
          <p:nvPr/>
        </p:nvSpPr>
        <p:spPr>
          <a:xfrm>
            <a:off x="2064470" y="1968899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فصل اول: مقدمه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B640F7-99F2-B066-FA21-23EAE6A199CA}"/>
              </a:ext>
            </a:extLst>
          </p:cNvPr>
          <p:cNvSpPr txBox="1"/>
          <p:nvPr/>
        </p:nvSpPr>
        <p:spPr>
          <a:xfrm>
            <a:off x="2064470" y="2806606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فصل دوم: </a:t>
            </a:r>
            <a:r>
              <a:rPr lang="fa-IR" sz="3600" dirty="0" err="1">
                <a:cs typeface="B Nazanin" panose="00000400000000000000" pitchFamily="2" charset="-78"/>
              </a:rPr>
              <a:t>پیاده‌سازی</a:t>
            </a:r>
            <a:r>
              <a:rPr lang="fa-IR" sz="3600" dirty="0">
                <a:cs typeface="B Nazanin" panose="00000400000000000000" pitchFamily="2" charset="-78"/>
              </a:rPr>
              <a:t> بازی و شخصیت ها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01DB4A-55BD-3006-CB36-3D46325CF65C}"/>
              </a:ext>
            </a:extLst>
          </p:cNvPr>
          <p:cNvSpPr txBox="1"/>
          <p:nvPr/>
        </p:nvSpPr>
        <p:spPr>
          <a:xfrm>
            <a:off x="2064470" y="3644313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فصل سوم: نتایج و آزمایش ها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AE5849-DE5F-1278-EF4A-9028B8105E7C}"/>
              </a:ext>
            </a:extLst>
          </p:cNvPr>
          <p:cNvSpPr txBox="1"/>
          <p:nvPr/>
        </p:nvSpPr>
        <p:spPr>
          <a:xfrm>
            <a:off x="2064470" y="4482020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b="1" i="1" dirty="0">
                <a:cs typeface="B Nazanin" panose="00000400000000000000" pitchFamily="2" charset="-78"/>
              </a:rPr>
              <a:t>فصل چهارم: </a:t>
            </a:r>
            <a:r>
              <a:rPr lang="fa-IR" sz="3600" b="1" i="1" dirty="0" err="1">
                <a:cs typeface="B Nazanin" panose="00000400000000000000" pitchFamily="2" charset="-78"/>
              </a:rPr>
              <a:t>نتیجه‌گیری</a:t>
            </a:r>
            <a:r>
              <a:rPr lang="fa-IR" sz="3600" b="1" i="1" dirty="0">
                <a:cs typeface="B Nazanin" panose="00000400000000000000" pitchFamily="2" charset="-78"/>
              </a:rPr>
              <a:t> و پیشنهادات</a:t>
            </a:r>
            <a:endParaRPr lang="en-US" sz="3600" b="1" i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245526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36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165396" y="451512"/>
            <a:ext cx="7766936" cy="14126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5400" dirty="0">
                <a:cs typeface="B Nazanin" panose="00000400000000000000" pitchFamily="2" charset="-78"/>
              </a:rPr>
              <a:t>فصل چهارم: </a:t>
            </a:r>
            <a:r>
              <a:rPr lang="fa-IR" sz="5400" dirty="0" err="1">
                <a:cs typeface="B Nazanin" panose="00000400000000000000" pitchFamily="2" charset="-78"/>
              </a:rPr>
              <a:t>نتیجه‌گیری</a:t>
            </a:r>
            <a:r>
              <a:rPr lang="fa-IR" sz="5400" dirty="0">
                <a:cs typeface="B Nazanin" panose="00000400000000000000" pitchFamily="2" charset="-78"/>
              </a:rPr>
              <a:t> و پیشنهادات</a:t>
            </a:r>
            <a:endParaRPr lang="en-US" sz="5400" dirty="0">
              <a:cs typeface="B Nazanin" panose="000004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CD712-E143-BAFC-5016-24A5A0DE4A36}"/>
              </a:ext>
            </a:extLst>
          </p:cNvPr>
          <p:cNvSpPr txBox="1"/>
          <p:nvPr/>
        </p:nvSpPr>
        <p:spPr>
          <a:xfrm>
            <a:off x="2064470" y="1968899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 err="1">
                <a:cs typeface="B Nazanin" panose="00000400000000000000" pitchFamily="2" charset="-78"/>
              </a:rPr>
              <a:t>نتیجه‌گیری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B640F7-99F2-B066-FA21-23EAE6A199CA}"/>
              </a:ext>
            </a:extLst>
          </p:cNvPr>
          <p:cNvSpPr txBox="1"/>
          <p:nvPr/>
        </p:nvSpPr>
        <p:spPr>
          <a:xfrm>
            <a:off x="2064470" y="3210766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دستاورد های پروژه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01DB4A-55BD-3006-CB36-3D46325CF65C}"/>
              </a:ext>
            </a:extLst>
          </p:cNvPr>
          <p:cNvSpPr txBox="1"/>
          <p:nvPr/>
        </p:nvSpPr>
        <p:spPr>
          <a:xfrm>
            <a:off x="2064470" y="4452634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پیشنهادات برای توسعه آینده</a:t>
            </a:r>
            <a:endParaRPr lang="en-US" sz="36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24986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37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3FC73D-FEA6-31F2-5BB1-8B9CC4F2BB48}"/>
              </a:ext>
            </a:extLst>
          </p:cNvPr>
          <p:cNvSpPr txBox="1">
            <a:spLocks/>
          </p:cNvSpPr>
          <p:nvPr/>
        </p:nvSpPr>
        <p:spPr>
          <a:xfrm>
            <a:off x="1165396" y="451512"/>
            <a:ext cx="7766936" cy="1412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 rtl="1"/>
            <a:r>
              <a:rPr lang="fa-IR" sz="5400" dirty="0">
                <a:cs typeface="B Nazanin" panose="00000400000000000000" pitchFamily="2" charset="-78"/>
              </a:rPr>
              <a:t>پیشنهادات برای توسعه آینده</a:t>
            </a:r>
            <a:endParaRPr lang="en-US" sz="5400" dirty="0">
              <a:cs typeface="B Nazanin" panose="000004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CD712-E143-BAFC-5016-24A5A0DE4A36}"/>
              </a:ext>
            </a:extLst>
          </p:cNvPr>
          <p:cNvSpPr txBox="1"/>
          <p:nvPr/>
        </p:nvSpPr>
        <p:spPr>
          <a:xfrm>
            <a:off x="2064470" y="1968899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تغییر شرایط خاتمه بازی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B640F7-99F2-B066-FA21-23EAE6A199CA}"/>
              </a:ext>
            </a:extLst>
          </p:cNvPr>
          <p:cNvSpPr txBox="1"/>
          <p:nvPr/>
        </p:nvSpPr>
        <p:spPr>
          <a:xfrm>
            <a:off x="2064470" y="2806606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افزودن استراتژی های متفاوت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01DB4A-55BD-3006-CB36-3D46325CF65C}"/>
              </a:ext>
            </a:extLst>
          </p:cNvPr>
          <p:cNvSpPr txBox="1"/>
          <p:nvPr/>
        </p:nvSpPr>
        <p:spPr>
          <a:xfrm>
            <a:off x="2064470" y="3644313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استفاده از عامل های هوشمند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AE5849-DE5F-1278-EF4A-9028B8105E7C}"/>
              </a:ext>
            </a:extLst>
          </p:cNvPr>
          <p:cNvSpPr txBox="1"/>
          <p:nvPr/>
        </p:nvSpPr>
        <p:spPr>
          <a:xfrm>
            <a:off x="2064470" y="4482020"/>
            <a:ext cx="6867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تغییر قوانین</a:t>
            </a:r>
            <a:endParaRPr lang="en-US" sz="36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229703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13AA8-075C-B47C-CB93-3AFD2DDB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15DE9-0D90-4B05-9877-6F01681119E1}" type="slidenum">
              <a:rPr lang="en-US" smtClean="0"/>
              <a:t>38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CD712-E143-BAFC-5016-24A5A0DE4A36}"/>
              </a:ext>
            </a:extLst>
          </p:cNvPr>
          <p:cNvSpPr txBox="1"/>
          <p:nvPr/>
        </p:nvSpPr>
        <p:spPr>
          <a:xfrm>
            <a:off x="1027521" y="1859340"/>
            <a:ext cx="85364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9600" dirty="0">
                <a:cs typeface="B Nazanin" panose="00000400000000000000" pitchFamily="2" charset="-78"/>
              </a:rPr>
              <a:t>ممنون از توجه شما</a:t>
            </a:r>
            <a:endParaRPr lang="en-US" sz="9600" dirty="0">
              <a:cs typeface="B Nazanin" panose="000004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9E83AF-74DD-55A4-8309-4A1CB86E47FA}"/>
              </a:ext>
            </a:extLst>
          </p:cNvPr>
          <p:cNvSpPr txBox="1"/>
          <p:nvPr/>
        </p:nvSpPr>
        <p:spPr>
          <a:xfrm>
            <a:off x="2532668" y="5090252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تابستان 1404</a:t>
            </a:r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3279208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296</TotalTime>
  <Words>1124</Words>
  <Application>Microsoft Office PowerPoint</Application>
  <PresentationFormat>Widescreen</PresentationFormat>
  <Paragraphs>267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B Nazanin</vt:lpstr>
      <vt:lpstr>Calibri</vt:lpstr>
      <vt:lpstr>Trebuchet MS</vt:lpstr>
      <vt:lpstr>Wingdings 3</vt:lpstr>
      <vt:lpstr>Facet</vt:lpstr>
      <vt:lpstr>شبیه‌سازی بازی ترسوها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شبیه‌سازی بازی ترسوها</dc:title>
  <dc:creator>Amirreza</dc:creator>
  <cp:lastModifiedBy>Amirreza</cp:lastModifiedBy>
  <cp:revision>17</cp:revision>
  <dcterms:created xsi:type="dcterms:W3CDTF">2025-09-13T20:33:32Z</dcterms:created>
  <dcterms:modified xsi:type="dcterms:W3CDTF">2025-09-14T01:30:28Z</dcterms:modified>
</cp:coreProperties>
</file>